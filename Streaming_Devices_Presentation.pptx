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9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06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67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3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18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8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4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2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13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6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6390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01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03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40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79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10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93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3894" y="505121"/>
            <a:ext cx="6620968" cy="3329581"/>
          </a:xfrm>
        </p:spPr>
        <p:txBody>
          <a:bodyPr/>
          <a:lstStyle/>
          <a:p>
            <a:r>
              <a:rPr dirty="0"/>
              <a:t>Streaming </a:t>
            </a:r>
            <a:r>
              <a:rPr lang="en-US" dirty="0"/>
              <a:t>Services</a:t>
            </a:r>
            <a:r>
              <a:rPr dirty="0"/>
              <a:t> User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3842" y="4777380"/>
            <a:ext cx="6620968" cy="8614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Akash Upadhyay</a:t>
            </a:r>
            <a:r>
              <a:rPr b="1" dirty="0">
                <a:solidFill>
                  <a:schemeClr val="tx1"/>
                </a:solidFill>
              </a:rPr>
              <a:t> | CPDA B</a:t>
            </a:r>
            <a:r>
              <a:rPr lang="en-US" b="1" dirty="0">
                <a:solidFill>
                  <a:schemeClr val="tx1"/>
                </a:solidFill>
              </a:rPr>
              <a:t>1</a:t>
            </a:r>
            <a:r>
              <a:rPr b="1" dirty="0">
                <a:solidFill>
                  <a:schemeClr val="tx1"/>
                </a:solidFill>
              </a:rPr>
              <a:t> | </a:t>
            </a:r>
            <a:r>
              <a:rPr lang="en-US" b="1" dirty="0">
                <a:solidFill>
                  <a:schemeClr val="tx1"/>
                </a:solidFill>
              </a:rPr>
              <a:t>August</a:t>
            </a:r>
            <a:r>
              <a:rPr b="1" dirty="0">
                <a:solidFill>
                  <a:schemeClr val="tx1"/>
                </a:solidFill>
              </a:rPr>
              <a:t>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Objective: Enhancing User Experience Through Behavioral Insights</a:t>
            </a:r>
          </a:p>
          <a:p>
            <a:r>
              <a:rPr lang="en-US" dirty="0"/>
              <a:t>To improve user satisfaction and drive informed business strategies, the goal is to:</a:t>
            </a:r>
          </a:p>
          <a:p>
            <a:r>
              <a:rPr lang="en-US" dirty="0"/>
              <a:t>📊 </a:t>
            </a:r>
            <a:r>
              <a:rPr lang="en-US" b="1" dirty="0"/>
              <a:t>Track Viewing Habits</a:t>
            </a:r>
            <a:r>
              <a:rPr lang="en-US" dirty="0"/>
              <a:t>: Monitor how users interact with content to uncover trends and preferences.</a:t>
            </a:r>
          </a:p>
          <a:p>
            <a:r>
              <a:rPr lang="en-US" dirty="0"/>
              <a:t>🔁 </a:t>
            </a:r>
            <a:r>
              <a:rPr lang="en-US" b="1" dirty="0"/>
              <a:t>Evaluate Engagement and Loyalty</a:t>
            </a:r>
            <a:r>
              <a:rPr lang="en-US" dirty="0"/>
              <a:t>: Analyze user interactions to understand commitment levels and recurring behaviors.</a:t>
            </a:r>
          </a:p>
          <a:p>
            <a:r>
              <a:rPr lang="en-US" dirty="0"/>
              <a:t>📈 </a:t>
            </a:r>
            <a:r>
              <a:rPr lang="en-US" b="1" dirty="0"/>
              <a:t>Detect Usage Trends and Retention Indicators</a:t>
            </a:r>
            <a:r>
              <a:rPr lang="en-US" dirty="0"/>
              <a:t>: Identify patterns that signal long-term usage and factors that influence user retention.</a:t>
            </a:r>
          </a:p>
          <a:p>
            <a:r>
              <a:rPr lang="en-US" dirty="0"/>
              <a:t>🎯 </a:t>
            </a:r>
            <a:r>
              <a:rPr lang="en-US" b="1" dirty="0"/>
              <a:t>Enable Smarter Personalization and Strategic Decisions</a:t>
            </a:r>
            <a:r>
              <a:rPr lang="en-US" dirty="0"/>
              <a:t>: Leverage behavioral data to tailor experiences and guide impactful business choices.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360" y="1331260"/>
            <a:ext cx="8156044" cy="3749788"/>
          </a:xfrm>
        </p:spPr>
        <p:txBody>
          <a:bodyPr>
            <a:noAutofit/>
          </a:bodyPr>
          <a:lstStyle/>
          <a:p>
            <a:r>
              <a:rPr lang="en-US" sz="1100" b="1" dirty="0"/>
              <a:t>Total Users</a:t>
            </a:r>
            <a:r>
              <a:rPr lang="en-US" sz="1100" dirty="0"/>
              <a:t>: Over 1,000 active profiles</a:t>
            </a:r>
          </a:p>
          <a:p>
            <a:r>
              <a:rPr lang="en-US" sz="1100" b="1" dirty="0"/>
              <a:t>Data Scope</a:t>
            </a:r>
            <a:r>
              <a:rPr lang="en-US" sz="1100" dirty="0"/>
              <a:t>: 24 distinct fields capturing behavioral, demographic, and transactional attributes</a:t>
            </a:r>
          </a:p>
          <a:p>
            <a:r>
              <a:rPr lang="en-US" sz="1100" b="1" dirty="0"/>
              <a:t>Time Frame</a:t>
            </a:r>
            <a:r>
              <a:rPr lang="en-US" sz="1100" dirty="0"/>
              <a:t>: Activity tracked from </a:t>
            </a:r>
            <a:r>
              <a:rPr lang="en-US" sz="1100" b="1" dirty="0" err="1"/>
              <a:t>Join_Date</a:t>
            </a:r>
            <a:r>
              <a:rPr lang="en-US" sz="1100" dirty="0"/>
              <a:t> to </a:t>
            </a:r>
            <a:r>
              <a:rPr lang="en-US" sz="1100" b="1" dirty="0" err="1"/>
              <a:t>Last_Login</a:t>
            </a:r>
            <a:endParaRPr lang="en-US" sz="1100" dirty="0"/>
          </a:p>
          <a:p>
            <a:r>
              <a:rPr lang="en-US" sz="1100" b="1" dirty="0"/>
              <a:t>🔍 Key Data Dimensions</a:t>
            </a:r>
          </a:p>
          <a:p>
            <a:r>
              <a:rPr lang="en-US" sz="1100" b="1" dirty="0"/>
              <a:t>🧠 User Behavior</a:t>
            </a:r>
            <a:endParaRPr lang="en-US" sz="1100" dirty="0"/>
          </a:p>
          <a:p>
            <a:pPr lvl="1"/>
            <a:r>
              <a:rPr lang="en-US" sz="1100" b="1" dirty="0"/>
              <a:t>Watch Hours</a:t>
            </a:r>
            <a:r>
              <a:rPr lang="en-US" sz="1100" dirty="0"/>
              <a:t>: Total time spent viewing content</a:t>
            </a:r>
          </a:p>
          <a:p>
            <a:pPr lvl="1"/>
            <a:r>
              <a:rPr lang="en-US" sz="1100" b="1" dirty="0"/>
              <a:t>Genres</a:t>
            </a:r>
            <a:r>
              <a:rPr lang="en-US" sz="1100" dirty="0"/>
              <a:t>: Preferred content categories</a:t>
            </a:r>
          </a:p>
          <a:p>
            <a:pPr lvl="1"/>
            <a:r>
              <a:rPr lang="en-US" sz="1100" b="1" dirty="0"/>
              <a:t>Devices</a:t>
            </a:r>
            <a:r>
              <a:rPr lang="en-US" sz="1100" dirty="0"/>
              <a:t>: Platforms used (e.g., mobile, desktop, smart TV)</a:t>
            </a:r>
          </a:p>
          <a:p>
            <a:r>
              <a:rPr lang="en-US" sz="1100" b="1" dirty="0"/>
              <a:t>🌍 Demographics</a:t>
            </a:r>
            <a:endParaRPr lang="en-US" sz="1100" dirty="0"/>
          </a:p>
          <a:p>
            <a:pPr lvl="1"/>
            <a:r>
              <a:rPr lang="en-US" sz="1100" b="1" dirty="0"/>
              <a:t>Country</a:t>
            </a:r>
            <a:r>
              <a:rPr lang="en-US" sz="1100" dirty="0"/>
              <a:t>: Geographic location of users</a:t>
            </a:r>
          </a:p>
          <a:p>
            <a:pPr lvl="1"/>
            <a:r>
              <a:rPr lang="en-US" sz="1100" b="1" dirty="0"/>
              <a:t>Age Group</a:t>
            </a:r>
            <a:r>
              <a:rPr lang="en-US" sz="1100" dirty="0"/>
              <a:t>: Segmented age brackets for audience profiling</a:t>
            </a:r>
          </a:p>
          <a:p>
            <a:r>
              <a:rPr lang="en-US" sz="1100" b="1" dirty="0"/>
              <a:t>📈 Engagement Metrics</a:t>
            </a:r>
            <a:endParaRPr lang="en-US" sz="1100" dirty="0"/>
          </a:p>
          <a:p>
            <a:pPr lvl="1"/>
            <a:r>
              <a:rPr lang="en-US" sz="1100" b="1" dirty="0"/>
              <a:t>Downloads</a:t>
            </a:r>
            <a:r>
              <a:rPr lang="en-US" sz="1100" dirty="0"/>
              <a:t>: Number of content downloads</a:t>
            </a:r>
          </a:p>
          <a:p>
            <a:pPr lvl="1"/>
            <a:r>
              <a:rPr lang="en-US" sz="1100" b="1" dirty="0"/>
              <a:t>Ratings</a:t>
            </a:r>
            <a:r>
              <a:rPr lang="en-US" sz="1100" dirty="0"/>
              <a:t>: User feedback scores</a:t>
            </a:r>
          </a:p>
          <a:p>
            <a:pPr lvl="1"/>
            <a:r>
              <a:rPr lang="en-US" sz="1100" b="1" dirty="0"/>
              <a:t>Loyalty Points</a:t>
            </a:r>
            <a:r>
              <a:rPr lang="en-US" sz="1100" dirty="0"/>
              <a:t>: Rewards or points earned through activity</a:t>
            </a:r>
          </a:p>
          <a:p>
            <a:r>
              <a:rPr lang="en-US" sz="1100" b="1" dirty="0"/>
              <a:t>💳 Subscription Details</a:t>
            </a:r>
            <a:endParaRPr lang="en-US" sz="1100" dirty="0"/>
          </a:p>
          <a:p>
            <a:pPr lvl="1"/>
            <a:r>
              <a:rPr lang="en-US" sz="1100" b="1" dirty="0"/>
              <a:t>Payment Status</a:t>
            </a:r>
            <a:r>
              <a:rPr lang="en-US" sz="1100" dirty="0"/>
              <a:t>: Indicates whether the user has made a payment</a:t>
            </a:r>
          </a:p>
          <a:p>
            <a:pPr lvl="1"/>
            <a:r>
              <a:rPr lang="en-US" sz="1100" b="1" dirty="0"/>
              <a:t>Active Status</a:t>
            </a:r>
            <a:r>
              <a:rPr lang="en-US" sz="1100" dirty="0"/>
              <a:t>: Shows if the subscription is currently active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86" y="1331259"/>
            <a:ext cx="8636811" cy="4195481"/>
          </a:xfrm>
        </p:spPr>
        <p:txBody>
          <a:bodyPr>
            <a:noAutofit/>
          </a:bodyPr>
          <a:lstStyle/>
          <a:p>
            <a:r>
              <a:rPr lang="en-US" sz="1100" dirty="0"/>
              <a:t>To enable deeper insights and improve analytical accuracy, the following transformations and enhancements were applied to the dataset:</a:t>
            </a:r>
          </a:p>
          <a:p>
            <a:r>
              <a:rPr lang="en-US" sz="1100" b="1" dirty="0"/>
              <a:t>📅 Date Formatting</a:t>
            </a:r>
          </a:p>
          <a:p>
            <a:pPr marL="0" indent="0">
              <a:buNone/>
            </a:pPr>
            <a:r>
              <a:rPr lang="en-US" sz="1100" dirty="0"/>
              <a:t>          Standardized </a:t>
            </a:r>
            <a:r>
              <a:rPr lang="en-US" sz="1100" b="1" dirty="0" err="1"/>
              <a:t>Join_Date</a:t>
            </a:r>
            <a:r>
              <a:rPr lang="en-US" sz="1100" dirty="0"/>
              <a:t> and </a:t>
            </a:r>
            <a:r>
              <a:rPr lang="en-US" sz="1100" b="1" dirty="0" err="1"/>
              <a:t>Last_Login</a:t>
            </a:r>
            <a:r>
              <a:rPr lang="en-US" sz="1100" dirty="0"/>
              <a:t> columns to a consistent date format for reliable time-based analysis.</a:t>
            </a:r>
          </a:p>
          <a:p>
            <a:r>
              <a:rPr lang="en-US" sz="1100" b="1" dirty="0"/>
              <a:t>📊 Derived Metrics</a:t>
            </a:r>
          </a:p>
          <a:p>
            <a:pPr marL="0" indent="0">
              <a:buNone/>
            </a:pPr>
            <a:r>
              <a:rPr lang="en-US" sz="1100" b="1" dirty="0"/>
              <a:t>          Total Watch Counts</a:t>
            </a:r>
            <a:r>
              <a:rPr lang="en-US" sz="1100" dirty="0"/>
              <a:t>: Aggregated viewing sessions to quantify user activity.</a:t>
            </a:r>
          </a:p>
          <a:p>
            <a:pPr marL="0" indent="0">
              <a:buNone/>
            </a:pPr>
            <a:r>
              <a:rPr lang="en-US" sz="1100" b="1" dirty="0"/>
              <a:t>          Login Frequency Estimate</a:t>
            </a:r>
            <a:r>
              <a:rPr lang="en-US" sz="1100" dirty="0"/>
              <a:t>: Calculated average login intervals to assess user engagement.</a:t>
            </a:r>
          </a:p>
          <a:p>
            <a:pPr marL="0" indent="0">
              <a:buNone/>
            </a:pPr>
            <a:r>
              <a:rPr lang="en-US" sz="1100" b="1" dirty="0"/>
              <a:t>          Login Activity Labeling</a:t>
            </a:r>
            <a:r>
              <a:rPr lang="en-US" sz="1100" dirty="0"/>
              <a:t>: Classified users based on login recency and frequency (e.g., Active, Dormant).</a:t>
            </a:r>
          </a:p>
          <a:p>
            <a:pPr marL="0" indent="0">
              <a:buNone/>
            </a:pPr>
            <a:r>
              <a:rPr lang="en-US" sz="1100" b="1" dirty="0"/>
              <a:t>          Revenue Groups</a:t>
            </a:r>
            <a:r>
              <a:rPr lang="en-US" sz="1100" dirty="0"/>
              <a:t>: Segmented users into tiers based on payment history and subscription value.</a:t>
            </a:r>
          </a:p>
          <a:p>
            <a:r>
              <a:rPr lang="en-US" sz="1100" b="1" dirty="0"/>
              <a:t>🔢 Data Cleaning &amp; Formatting</a:t>
            </a:r>
          </a:p>
          <a:p>
            <a:pPr marL="0" indent="0">
              <a:buNone/>
            </a:pPr>
            <a:r>
              <a:rPr lang="en-US" sz="1100" dirty="0"/>
              <a:t>           Normalized numeric fields with consistent decimal precision.</a:t>
            </a:r>
          </a:p>
          <a:p>
            <a:pPr marL="0" indent="0">
              <a:buNone/>
            </a:pPr>
            <a:r>
              <a:rPr lang="en-US" sz="1100" dirty="0"/>
              <a:t>          Applied formatting rules for readability across watch hours, ratings, and loyalty points.</a:t>
            </a:r>
          </a:p>
          <a:p>
            <a:r>
              <a:rPr lang="en-US" sz="1100" b="1" dirty="0"/>
              <a:t>🎯 Behavioral Labeling</a:t>
            </a:r>
          </a:p>
          <a:p>
            <a:pPr marL="0" indent="0">
              <a:buNone/>
            </a:pPr>
            <a:r>
              <a:rPr lang="en-US" sz="1100" b="1" dirty="0"/>
              <a:t>          Content Preferences</a:t>
            </a:r>
            <a:r>
              <a:rPr lang="en-US" sz="1100" dirty="0"/>
              <a:t>: Categorized users into:</a:t>
            </a:r>
          </a:p>
          <a:p>
            <a:pPr lvl="1"/>
            <a:r>
              <a:rPr lang="en-US" sz="1100" b="1" dirty="0"/>
              <a:t>Movies – Heavy</a:t>
            </a:r>
            <a:r>
              <a:rPr lang="en-US" sz="1100" dirty="0"/>
              <a:t>: Predominantly movie watchers</a:t>
            </a:r>
          </a:p>
          <a:p>
            <a:pPr lvl="1"/>
            <a:r>
              <a:rPr lang="en-US" sz="1100" b="1" dirty="0"/>
              <a:t>Series – Heavy</a:t>
            </a:r>
            <a:r>
              <a:rPr lang="en-US" sz="1100" dirty="0"/>
              <a:t>: Primarily series viewers</a:t>
            </a:r>
          </a:p>
          <a:p>
            <a:pPr lvl="1"/>
            <a:r>
              <a:rPr lang="en-US" sz="1100" b="1" dirty="0"/>
              <a:t>Balanced</a:t>
            </a:r>
            <a:r>
              <a:rPr lang="en-US" sz="1100" dirty="0"/>
              <a:t>: Engaged with both content types evenly</a:t>
            </a:r>
          </a:p>
          <a:p>
            <a:r>
              <a:rPr lang="en-US" sz="1100" b="1" dirty="0"/>
              <a:t>Login Frequency Tags</a:t>
            </a:r>
            <a:r>
              <a:rPr lang="en-US" sz="1100" dirty="0"/>
              <a:t>: Assigned labels such as Frequent, Occasional, or Rare based on login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Analysis</a:t>
            </a:r>
            <a:r>
              <a:rPr lang="en-US" dirty="0"/>
              <a:t> Done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533832"/>
            <a:ext cx="6711654" cy="5102941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Dashboard1️⃣ OTT Engagement:</a:t>
            </a:r>
          </a:p>
          <a:p>
            <a:r>
              <a:rPr lang="en-US" sz="1800" b="1" dirty="0"/>
              <a:t>Movies vs Series</a:t>
            </a:r>
            <a:r>
              <a:rPr lang="en-US" sz="1800" dirty="0"/>
              <a:t>: Compare viewing preferences</a:t>
            </a:r>
          </a:p>
          <a:p>
            <a:r>
              <a:rPr lang="en-US" sz="1800" b="1" dirty="0"/>
              <a:t>Recommended Content</a:t>
            </a:r>
            <a:r>
              <a:rPr lang="en-US" sz="1800" dirty="0"/>
              <a:t>: Measure impact on watch time</a:t>
            </a:r>
          </a:p>
          <a:p>
            <a:r>
              <a:rPr lang="en-US" sz="1800" b="1" dirty="0"/>
              <a:t>Peak Hours &amp; Devices</a:t>
            </a:r>
            <a:r>
              <a:rPr lang="en-US" sz="1800" dirty="0"/>
              <a:t>: Identify top viewing times and platforms</a:t>
            </a:r>
          </a:p>
          <a:p>
            <a:r>
              <a:rPr lang="en-US" sz="1800" b="1" dirty="0"/>
              <a:t>Age vs Genre &amp; Watch Count</a:t>
            </a:r>
            <a:r>
              <a:rPr lang="en-US" sz="1800" dirty="0"/>
              <a:t>: Analyze content trends by age group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Dashboard2️⃣ Retention &amp; Loyalty:</a:t>
            </a:r>
          </a:p>
          <a:p>
            <a:r>
              <a:rPr lang="en-US" sz="1900" b="1" dirty="0"/>
              <a:t>Downloads &amp; Logins</a:t>
            </a:r>
            <a:r>
              <a:rPr lang="en-US" sz="1900" dirty="0"/>
              <a:t>: Track user activity</a:t>
            </a:r>
          </a:p>
          <a:p>
            <a:r>
              <a:rPr lang="en-US" sz="1900" b="1" dirty="0"/>
              <a:t>Loyalty Points by Age</a:t>
            </a:r>
            <a:r>
              <a:rPr lang="en-US" sz="1900" dirty="0"/>
              <a:t>: Visualize reward engagement across age segments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Dashboard3️⃣ Regional &amp; Payment Trends:</a:t>
            </a:r>
          </a:p>
          <a:p>
            <a:r>
              <a:rPr lang="en-US" sz="1900" b="1" dirty="0"/>
              <a:t>Subscriptions by Country</a:t>
            </a:r>
            <a:r>
              <a:rPr lang="en-US" sz="1900" dirty="0"/>
              <a:t>: Map global reach</a:t>
            </a:r>
          </a:p>
          <a:p>
            <a:r>
              <a:rPr lang="en-US" sz="1900" b="1" dirty="0"/>
              <a:t>Payment Methods</a:t>
            </a:r>
            <a:r>
              <a:rPr lang="en-US" sz="1900" dirty="0"/>
              <a:t>: Spot usage patterns</a:t>
            </a:r>
          </a:p>
          <a:p>
            <a:r>
              <a:rPr lang="en-US" sz="1900" b="1" dirty="0"/>
              <a:t>Language vs Engagement</a:t>
            </a:r>
            <a:r>
              <a:rPr lang="en-US" sz="1900" dirty="0"/>
              <a:t>: Link content language to user interest</a:t>
            </a:r>
          </a:p>
          <a:p>
            <a:r>
              <a:rPr lang="en-US" sz="1900" b="1" dirty="0"/>
              <a:t>New User Trends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CBE1F4E-4DBD-8EE3-CDCC-9A97347776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9824" y="1853248"/>
            <a:ext cx="662515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🎬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Preference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Majority of users are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movie-heavy viewers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strong demand for film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🌆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Watch 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Evenings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the most active viewing period across all age groups.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🤖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 Impact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Users engaging with recommended content show significantly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total watch hours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🔁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Retention Signals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High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loyalty points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frequent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correlate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active login behavior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signaling strong user commitment.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B2EC37-74E0-9D54-E376-BDC9CE198A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6205" y="1795509"/>
            <a:ext cx="6712389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🎥 Promote Series to Engaged Users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Target high-activity viewers with curated series content to boost long-form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🤖 Enhance Recommendation Engine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Refine algorithms using watch history and genre preferences to increase relevance and watch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🌆 Align Promotions with Evening Behavior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Schedule content pushes and offers during peak evening hours for maximum visibility and impact.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🎁 Incentivize Downloads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 rewards or exclusive access to encourage content downloads and deepen platform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👥 Expand Genre Offerings by Age Group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 age-based preferences to diversify content libraries and improve personalization.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6059" y="2728735"/>
            <a:ext cx="7055380" cy="140053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711</Words>
  <Application>Microsoft Office PowerPoint</Application>
  <PresentationFormat>On-screen Show (4:3)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Wingdings</vt:lpstr>
      <vt:lpstr>Wingdings 3</vt:lpstr>
      <vt:lpstr>Ion</vt:lpstr>
      <vt:lpstr>Streaming Services User Analysis</vt:lpstr>
      <vt:lpstr>Objective</vt:lpstr>
      <vt:lpstr>Summary</vt:lpstr>
      <vt:lpstr>Data Cleaning</vt:lpstr>
      <vt:lpstr>Analysis Done</vt:lpstr>
      <vt:lpstr>Conclusion</vt:lpstr>
      <vt:lpstr>Recommendations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 Upadhyay</cp:lastModifiedBy>
  <cp:revision>8</cp:revision>
  <dcterms:created xsi:type="dcterms:W3CDTF">2013-01-27T09:14:16Z</dcterms:created>
  <dcterms:modified xsi:type="dcterms:W3CDTF">2025-10-11T11:16:54Z</dcterms:modified>
  <cp:category/>
</cp:coreProperties>
</file>